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4.11.2025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2187674"/>
          </a:xfrm>
        </p:spPr>
        <p:txBody>
          <a:bodyPr/>
          <a:lstStyle/>
          <a:p>
            <a:r>
              <a:rPr lang="tr-TR" dirty="0" smtClean="0"/>
              <a:t>İspat ve Türleri</a:t>
            </a:r>
            <a:br>
              <a:rPr lang="tr-TR" dirty="0" smtClean="0"/>
            </a:br>
            <a:r>
              <a:rPr lang="tr-TR" dirty="0" smtClean="0"/>
              <a:t>	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Ayrık Yapılar</a:t>
            </a:r>
          </a:p>
          <a:p>
            <a:r>
              <a:rPr lang="tr-TR" dirty="0" smtClean="0"/>
              <a:t>	Dr. </a:t>
            </a:r>
            <a:r>
              <a:rPr lang="tr-TR" dirty="0" err="1" smtClean="0"/>
              <a:t>Öğr</a:t>
            </a:r>
            <a:r>
              <a:rPr lang="tr-TR" dirty="0" smtClean="0"/>
              <a:t>. Üyesi Mustafa Özgür CİNGİZ</a:t>
            </a:r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Tanımlar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/>
              <a:t>İspat</a:t>
            </a:r>
            <a:r>
              <a:rPr lang="tr-TR" dirty="0" smtClean="0"/>
              <a:t>, bir teoremin sonucu olarak belirtilen doğru argümanlardır</a:t>
            </a:r>
          </a:p>
          <a:p>
            <a:pPr lvl="1"/>
            <a:r>
              <a:rPr lang="tr-TR" dirty="0" smtClean="0"/>
              <a:t>İspat, önermeleri kullanarak çıkarımda bulunmaktır. Önermeler için aksiyomlar kullanılır</a:t>
            </a:r>
          </a:p>
          <a:p>
            <a:r>
              <a:rPr lang="tr-TR" b="1" dirty="0" smtClean="0"/>
              <a:t>Aksiyom: </a:t>
            </a:r>
            <a:r>
              <a:rPr lang="tr-TR" dirty="0" smtClean="0"/>
              <a:t>Doğruluğu ispat edilmemiş kabul edilen matematiksel ifadeye denir</a:t>
            </a:r>
          </a:p>
          <a:p>
            <a:r>
              <a:rPr lang="tr-TR" dirty="0" smtClean="0"/>
              <a:t>Çıkarım kuralları ve terimlerin tanımları, bir ispatın adımlarını belirleyerek diğer ifadelerden ara sonuçlar çıkarmak için kullanılır.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Tanımlar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Ön kuram (</a:t>
            </a:r>
            <a:r>
              <a:rPr lang="tr-TR" b="1" dirty="0" err="1" smtClean="0"/>
              <a:t>lemma</a:t>
            </a:r>
            <a:r>
              <a:rPr lang="tr-TR" b="1" dirty="0" smtClean="0"/>
              <a:t>): </a:t>
            </a:r>
            <a:r>
              <a:rPr lang="tr-TR" dirty="0" smtClean="0"/>
              <a:t>bir teoremi ispatlamak için kullanılan tek başına ispat gücü olmayan teorem parçaları</a:t>
            </a:r>
          </a:p>
          <a:p>
            <a:r>
              <a:rPr lang="tr-TR" b="1" dirty="0" smtClean="0"/>
              <a:t>Önerme Sonucu (</a:t>
            </a:r>
            <a:r>
              <a:rPr lang="tr-TR" b="1" dirty="0" err="1" smtClean="0"/>
              <a:t>corollary</a:t>
            </a:r>
            <a:r>
              <a:rPr lang="tr-TR" b="1" dirty="0" smtClean="0"/>
              <a:t>) :</a:t>
            </a:r>
            <a:r>
              <a:rPr lang="tr-TR" dirty="0" smtClean="0"/>
              <a:t> kanıtlanmış bir teorem aracılığıyla kurulabilecek bir teorem</a:t>
            </a:r>
          </a:p>
          <a:p>
            <a:r>
              <a:rPr lang="tr-TR" b="1" dirty="0" smtClean="0"/>
              <a:t>Varsayım ( </a:t>
            </a:r>
            <a:r>
              <a:rPr lang="tr-TR" b="1" dirty="0" err="1" smtClean="0"/>
              <a:t>conjecture</a:t>
            </a:r>
            <a:r>
              <a:rPr lang="tr-TR" b="1" dirty="0" smtClean="0"/>
              <a:t>) : </a:t>
            </a:r>
            <a:r>
              <a:rPr lang="tr-TR" dirty="0" smtClean="0"/>
              <a:t>Genellikle kısmi kanıtlara veya bir uzmanın sezgilerine dayanarak, gerçek bir ifade olarak önerilen bir ifade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Doğrudan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koşullu önermenin doğrudan bir kanıtı</a:t>
            </a:r>
          </a:p>
          <a:p>
            <a:pPr lvl="1">
              <a:buNone/>
            </a:pPr>
            <a:r>
              <a:rPr lang="tr-TR" dirty="0" smtClean="0"/>
              <a:t>p </a:t>
            </a:r>
            <a:r>
              <a:rPr lang="tr-TR" dirty="0" smtClean="0">
                <a:sym typeface="Wingdings" pitchFamily="2" charset="2"/>
              </a:rPr>
              <a:t> q</a:t>
            </a:r>
            <a:r>
              <a:rPr lang="tr-TR" dirty="0" smtClean="0"/>
              <a:t> </a:t>
            </a:r>
          </a:p>
          <a:p>
            <a:pPr lvl="2"/>
            <a:r>
              <a:rPr lang="tr-TR" dirty="0" smtClean="0"/>
              <a:t>önce </a:t>
            </a:r>
            <a:r>
              <a:rPr lang="tr-TR" dirty="0" err="1" smtClean="0"/>
              <a:t>p'nin</a:t>
            </a:r>
            <a:r>
              <a:rPr lang="tr-TR" dirty="0" smtClean="0"/>
              <a:t> doğru olduğunu varsayar ve daha önce teoremlerle sağlanan aksiyomları, tanımları, çıkarım kurallarıyla birlikte </a:t>
            </a:r>
            <a:r>
              <a:rPr lang="tr-TR" dirty="0" err="1" smtClean="0"/>
              <a:t>q'nun</a:t>
            </a:r>
            <a:r>
              <a:rPr lang="tr-TR" dirty="0" smtClean="0"/>
              <a:t> da doğru olduğunu göstermek için kullanır.</a:t>
            </a:r>
          </a:p>
          <a:p>
            <a:pPr lvl="2"/>
            <a:r>
              <a:rPr lang="tr-TR" dirty="0" smtClean="0"/>
              <a:t>P doğru ise q yanlıştır durumu asla oluşmaz</a:t>
            </a:r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Doğrudan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“n” tek ise “n^2” de tektir</a:t>
            </a:r>
          </a:p>
          <a:p>
            <a:r>
              <a:rPr lang="tr-TR" dirty="0" smtClean="0"/>
              <a:t>İspat:</a:t>
            </a:r>
          </a:p>
          <a:p>
            <a:pPr lvl="1"/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2780929"/>
            <a:ext cx="2016224" cy="59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717032"/>
            <a:ext cx="7818710" cy="607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95936" y="4725144"/>
            <a:ext cx="1374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“n^2 “ tektir</a:t>
            </a:r>
            <a:endParaRPr lang="tr-T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Doğrudan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“m” ve “n”  tamsayı kare değerleri ise “m.n” ‘</a:t>
            </a:r>
            <a:r>
              <a:rPr lang="tr-TR" dirty="0" err="1" smtClean="0"/>
              <a:t>nin</a:t>
            </a:r>
            <a:r>
              <a:rPr lang="tr-TR" dirty="0" smtClean="0"/>
              <a:t> de bir tamsayı karesi olduğunu ispatlayınız ?</a:t>
            </a: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789040"/>
            <a:ext cx="4248472" cy="1255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tr-TR" dirty="0" smtClean="0"/>
              <a:t>Tersini Koyarak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56584"/>
          </a:xfrm>
        </p:spPr>
        <p:txBody>
          <a:bodyPr/>
          <a:lstStyle/>
          <a:p>
            <a:r>
              <a:rPr lang="tr-TR" dirty="0" smtClean="0">
                <a:solidFill>
                  <a:srgbClr val="000000"/>
                </a:solidFill>
              </a:rPr>
              <a:t>p </a:t>
            </a:r>
            <a:r>
              <a:rPr lang="tr-TR" dirty="0" smtClean="0">
                <a:solidFill>
                  <a:srgbClr val="000000"/>
                </a:solidFill>
                <a:latin typeface="Symbol"/>
              </a:rPr>
              <a:t> </a:t>
            </a:r>
            <a:r>
              <a:rPr lang="tr-TR" dirty="0" smtClean="0">
                <a:solidFill>
                  <a:srgbClr val="000000"/>
                </a:solidFill>
              </a:rPr>
              <a:t>q </a:t>
            </a:r>
            <a:r>
              <a:rPr lang="tr-TR" dirty="0" smtClean="0">
                <a:solidFill>
                  <a:srgbClr val="000000"/>
                </a:solidFill>
                <a:latin typeface="Symbol"/>
              </a:rPr>
              <a:t>  </a:t>
            </a:r>
            <a:r>
              <a:rPr lang="tr-TR" dirty="0" smtClean="0">
                <a:solidFill>
                  <a:srgbClr val="000000"/>
                </a:solidFill>
              </a:rPr>
              <a:t>q </a:t>
            </a:r>
            <a:r>
              <a:rPr lang="tr-TR" dirty="0" smtClean="0">
                <a:solidFill>
                  <a:srgbClr val="000000"/>
                </a:solidFill>
                <a:latin typeface="Symbol"/>
              </a:rPr>
              <a:t>  </a:t>
            </a:r>
            <a:r>
              <a:rPr lang="tr-TR" dirty="0" smtClean="0">
                <a:solidFill>
                  <a:srgbClr val="000000"/>
                </a:solidFill>
              </a:rPr>
              <a:t>p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Kullanarak ispat</a:t>
            </a:r>
          </a:p>
          <a:p>
            <a:r>
              <a:rPr lang="tr-TR" dirty="0" smtClean="0"/>
              <a:t>“q </a:t>
            </a:r>
            <a:r>
              <a:rPr lang="tr-TR" dirty="0" err="1" smtClean="0"/>
              <a:t>değili</a:t>
            </a:r>
            <a:r>
              <a:rPr lang="tr-TR" dirty="0" smtClean="0"/>
              <a:t> ” doğru ise “ p </a:t>
            </a:r>
            <a:r>
              <a:rPr lang="tr-TR" dirty="0" err="1" smtClean="0"/>
              <a:t>değili</a:t>
            </a:r>
            <a:r>
              <a:rPr lang="tr-TR" dirty="0" smtClean="0"/>
              <a:t> de “ doğrudur</a:t>
            </a:r>
          </a:p>
          <a:p>
            <a:r>
              <a:rPr lang="tr-TR" dirty="0" smtClean="0"/>
              <a:t>Örnek:</a:t>
            </a:r>
          </a:p>
          <a:p>
            <a:pPr lvl="1"/>
            <a:r>
              <a:rPr lang="tr-TR" dirty="0" smtClean="0"/>
              <a:t>3n +2 tek ise , n tektir</a:t>
            </a:r>
            <a:br>
              <a:rPr lang="tr-TR" dirty="0" smtClean="0"/>
            </a:br>
            <a:endParaRPr lang="tr-T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Tersini Koyarak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“n” çift olarak alalım n=2k</a:t>
            </a:r>
          </a:p>
          <a:p>
            <a:r>
              <a:rPr lang="tr-TR" dirty="0" smtClean="0"/>
              <a:t>3n +2= 3 (2k) +2 = 6k +2 = 2(3k+1) ise 3n+2 çifttir</a:t>
            </a:r>
          </a:p>
          <a:p>
            <a:r>
              <a:rPr lang="tr-TR" dirty="0" smtClean="0"/>
              <a:t>Tersini koyarak ispat yaparsak ( </a:t>
            </a:r>
            <a:r>
              <a:rPr lang="tr-TR" dirty="0" err="1" smtClean="0"/>
              <a:t>kontrapozitif</a:t>
            </a:r>
            <a:r>
              <a:rPr lang="tr-TR" dirty="0" smtClean="0"/>
              <a:t>) bu hipotezin </a:t>
            </a:r>
            <a:r>
              <a:rPr lang="tr-TR" dirty="0" err="1" smtClean="0"/>
              <a:t>değili</a:t>
            </a:r>
            <a:r>
              <a:rPr lang="tr-TR" dirty="0" smtClean="0"/>
              <a:t> </a:t>
            </a:r>
            <a:r>
              <a:rPr lang="tr-TR" dirty="0" smtClean="0"/>
              <a:t>doğruluğu </a:t>
            </a:r>
            <a:r>
              <a:rPr lang="tr-TR" dirty="0" smtClean="0"/>
              <a:t>gerçek önermenin doğru olduğunu gösterir</a:t>
            </a:r>
          </a:p>
          <a:p>
            <a:pPr lvl="1"/>
            <a:r>
              <a:rPr lang="tr-TR" dirty="0" smtClean="0"/>
              <a:t>Yani 3n+2 tek ise, n tektir</a:t>
            </a:r>
            <a:endParaRPr lang="tr-T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Tersini Koyarak İspat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smtClean="0"/>
              <a:t>√2 ‘</a:t>
            </a:r>
            <a:r>
              <a:rPr lang="tr-TR" dirty="0" err="1" smtClean="0"/>
              <a:t>nin</a:t>
            </a:r>
            <a:r>
              <a:rPr lang="tr-TR" dirty="0" smtClean="0"/>
              <a:t> irrasyonel olduğunu </a:t>
            </a:r>
            <a:r>
              <a:rPr lang="tr-TR" dirty="0" smtClean="0"/>
              <a:t>gösteriniz</a:t>
            </a:r>
          </a:p>
          <a:p>
            <a:pPr lvl="1"/>
            <a:r>
              <a:rPr lang="tr-TR" u="sng" dirty="0" smtClean="0"/>
              <a:t>Eğer a/b şeklindedir deyip herhangi bir ortak bölüneni gösterirsem </a:t>
            </a:r>
            <a:r>
              <a:rPr lang="tr-TR" u="sng" dirty="0" err="1" smtClean="0"/>
              <a:t>kontrapozitif</a:t>
            </a:r>
            <a:r>
              <a:rPr lang="tr-TR" u="sng" dirty="0" smtClean="0"/>
              <a:t> ile ispatlarım</a:t>
            </a:r>
            <a:endParaRPr lang="tr-TR" u="sng" dirty="0" smtClean="0"/>
          </a:p>
          <a:p>
            <a:r>
              <a:rPr lang="tr-TR" dirty="0" smtClean="0"/>
              <a:t>İspat</a:t>
            </a:r>
          </a:p>
          <a:p>
            <a:pPr lvl="1"/>
            <a:r>
              <a:rPr lang="tr-TR" dirty="0" smtClean="0"/>
              <a:t>Bu değerin rasyonel bir sayı olduğunu düşünelim ve bu değer a/b </a:t>
            </a:r>
            <a:r>
              <a:rPr lang="tr-TR" b="1" dirty="0" smtClean="0"/>
              <a:t>( b ≠ 0 olsun) ve </a:t>
            </a:r>
            <a:r>
              <a:rPr lang="tr-TR" b="1" dirty="0" err="1" smtClean="0"/>
              <a:t>a,b</a:t>
            </a:r>
            <a:r>
              <a:rPr lang="tr-TR" b="1" dirty="0" smtClean="0"/>
              <a:t> aralarında asal</a:t>
            </a:r>
          </a:p>
          <a:p>
            <a:pPr lvl="1"/>
            <a:r>
              <a:rPr lang="tr-TR" dirty="0" smtClean="0"/>
              <a:t>“a² = 2b²”</a:t>
            </a:r>
          </a:p>
          <a:p>
            <a:pPr lvl="1"/>
            <a:r>
              <a:rPr lang="tr-TR" dirty="0" smtClean="0"/>
              <a:t>“a” bazı c değerleri için 2c ise</a:t>
            </a:r>
          </a:p>
          <a:p>
            <a:pPr lvl="2"/>
            <a:r>
              <a:rPr lang="tr-TR" dirty="0" smtClean="0"/>
              <a:t>(2c)² = 2b²</a:t>
            </a:r>
          </a:p>
          <a:p>
            <a:pPr lvl="1"/>
            <a:r>
              <a:rPr lang="tr-TR" dirty="0" smtClean="0"/>
              <a:t>b² = 2c² böylece b bir çift sayıdır yani 2 ile ortak bölen olan rasyonel bir </a:t>
            </a:r>
            <a:r>
              <a:rPr lang="tr-TR" dirty="0" smtClean="0"/>
              <a:t>değer</a:t>
            </a:r>
          </a:p>
          <a:p>
            <a:pPr lvl="1"/>
            <a:r>
              <a:rPr lang="tr-TR" dirty="0" smtClean="0"/>
              <a:t>Ortak bölenini buldum yani rasyonelliğini gösterdim</a:t>
            </a:r>
            <a:endParaRPr lang="tr-TR" dirty="0" smtClean="0"/>
          </a:p>
          <a:p>
            <a:r>
              <a:rPr lang="tr-TR" dirty="0" smtClean="0"/>
              <a:t>Tersini koyarak ispat yaparsak ( </a:t>
            </a:r>
            <a:r>
              <a:rPr lang="tr-TR" dirty="0" err="1" smtClean="0"/>
              <a:t>kontrapozitif</a:t>
            </a:r>
            <a:r>
              <a:rPr lang="tr-TR" dirty="0" smtClean="0"/>
              <a:t>) bu hipotezin </a:t>
            </a:r>
            <a:r>
              <a:rPr lang="tr-TR" dirty="0" err="1" smtClean="0"/>
              <a:t>değili</a:t>
            </a:r>
            <a:r>
              <a:rPr lang="tr-TR" dirty="0" smtClean="0"/>
              <a:t> </a:t>
            </a:r>
            <a:r>
              <a:rPr lang="tr-TR" dirty="0" smtClean="0"/>
              <a:t>doğruluğu </a:t>
            </a:r>
            <a:r>
              <a:rPr lang="tr-TR" dirty="0" smtClean="0"/>
              <a:t>gerçek önermenin doğru olduğunu gösterir</a:t>
            </a:r>
          </a:p>
          <a:p>
            <a:endParaRPr lang="tr-TR" dirty="0" smtClean="0"/>
          </a:p>
          <a:p>
            <a:pPr lvl="1"/>
            <a:endParaRPr lang="tr-T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Eşdeğer Ayrıştırmaya Göre </a:t>
            </a:r>
            <a:r>
              <a:rPr lang="tr-TR" dirty="0" smtClean="0"/>
              <a:t>Kanıt</a:t>
            </a:r>
            <a:br>
              <a:rPr lang="tr-TR" dirty="0" smtClean="0"/>
            </a:br>
            <a:r>
              <a:rPr lang="tr-TR" dirty="0"/>
              <a:t>(</a:t>
            </a:r>
            <a:r>
              <a:rPr lang="tr-TR" dirty="0" err="1"/>
              <a:t>Proof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Equivalent</a:t>
            </a:r>
            <a:r>
              <a:rPr lang="tr-TR" dirty="0"/>
              <a:t> </a:t>
            </a:r>
            <a:r>
              <a:rPr lang="tr-TR" dirty="0" err="1"/>
              <a:t>Decomposition</a:t>
            </a:r>
            <a:r>
              <a:rPr lang="tr-TR" dirty="0"/>
              <a:t>)</a:t>
            </a:r>
            <a:endParaRPr lang="tr-T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276872"/>
            <a:ext cx="8229600" cy="1230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Sözel Örnek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980728"/>
            <a:ext cx="5760640" cy="564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63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Eşdeğer Ayrıştırmaya Göre Kanıt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“n” 3 ile bölünmeyen bir sayı ise n² = 3k+1 sayısının 3’e bölümünden kalanın olması bazı </a:t>
            </a:r>
            <a:r>
              <a:rPr lang="tr-TR" dirty="0" err="1" smtClean="0"/>
              <a:t>k’lar</a:t>
            </a:r>
            <a:r>
              <a:rPr lang="tr-TR" dirty="0" smtClean="0"/>
              <a:t> için doğrudur</a:t>
            </a:r>
          </a:p>
          <a:p>
            <a:r>
              <a:rPr lang="tr-TR" dirty="0" smtClean="0"/>
              <a:t>Eğer 3’e bölünmüyorsa “ n= 3m+1” veya “ n= 3m+2”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Eşdeğer Ayrıştırmaya Göre Kanıt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669290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429000"/>
            <a:ext cx="7340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432</Words>
  <Application>Microsoft Office PowerPoint</Application>
  <PresentationFormat>Ekran Gösterisi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Arial</vt:lpstr>
      <vt:lpstr>Calibri</vt:lpstr>
      <vt:lpstr>Symbol</vt:lpstr>
      <vt:lpstr>Wingdings</vt:lpstr>
      <vt:lpstr>Ofis Teması</vt:lpstr>
      <vt:lpstr>İspat ve Türleri  </vt:lpstr>
      <vt:lpstr>Tanımlar</vt:lpstr>
      <vt:lpstr>Tanımlar</vt:lpstr>
      <vt:lpstr>Doğrudan İspat</vt:lpstr>
      <vt:lpstr>Doğrudan İspat</vt:lpstr>
      <vt:lpstr>Doğrudan İspat</vt:lpstr>
      <vt:lpstr>Tersini Koyarak İspat</vt:lpstr>
      <vt:lpstr>Tersini Koyarak İspat</vt:lpstr>
      <vt:lpstr>Tersini Koyarak İspat</vt:lpstr>
      <vt:lpstr>Eşdeğer Ayrıştırmaya Göre Kanıt (Proof by Equivalent Decomposition)</vt:lpstr>
      <vt:lpstr>Sözel Örnek</vt:lpstr>
      <vt:lpstr>Eşdeğer Ayrıştırmaya Göre Kanıt</vt:lpstr>
      <vt:lpstr>Eşdeğer Ayrıştırmaya Göre Kanıt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cingiz</dc:creator>
  <cp:lastModifiedBy>Mustafa Özgür CİNGİZ</cp:lastModifiedBy>
  <cp:revision>54</cp:revision>
  <dcterms:created xsi:type="dcterms:W3CDTF">2020-10-26T12:57:43Z</dcterms:created>
  <dcterms:modified xsi:type="dcterms:W3CDTF">2025-11-04T07:25:54Z</dcterms:modified>
</cp:coreProperties>
</file>